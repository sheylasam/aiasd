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463040"/>
            <a:ext cx="4023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  <a:latin typeface="Calibri"/>
              </a:rPr>
              <a:t>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20040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  <a:latin typeface="Calibri"/>
              </a:rPr>
              <a:t>Dein KI-Engineer im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93192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AI-Assisted Software Development · FHNW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1645920"/>
            <a:ext cx="6949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FF7F"/>
                </a:solidFill>
                <a:latin typeface="Courier New"/>
              </a:rPr>
              <a:t>$ claude
&gt; Lies content.json und erstelle daraus
  ein spielbares Memory-Spiel als memory.html
  Reading: content.json ...
  Planning: card layout, flip animation, scoring
  Writing: memory.html ✓
  Done. Open memory.html to play!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594360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AAAA"/>
                </a:solidFill>
                <a:latin typeface="Calibri"/>
              </a:rPr>
              <a:t>von Anthropic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097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FHNW · School of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Was ist Claude Code?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3152" cy="50292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Anthropics offizielles CLI-Tool für KI-gestütztes Software Engineering (2024)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901952"/>
            <a:ext cx="109728" cy="10972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000000"/>
                </a:solidFill>
                <a:latin typeface="Calibri"/>
              </a:rPr>
              <a:t>Läuft im Terminal — </a:t>
            </a:r>
            <a:r>
              <a:rPr b="0" sz="1700">
                <a:solidFill>
                  <a:srgbClr val="333333"/>
                </a:solidFill>
                <a:latin typeface="Calibri"/>
              </a:rPr>
              <a:t>kein GUI, kein Plugin-Overhead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560320"/>
            <a:ext cx="109728" cy="10972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9572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000000"/>
                </a:solidFill>
                <a:latin typeface="Calibri"/>
              </a:rPr>
              <a:t>Liest &amp; versteht Codebasen — </a:t>
            </a:r>
            <a:r>
              <a:rPr b="0" sz="1700">
                <a:solidFill>
                  <a:srgbClr val="333333"/>
                </a:solidFill>
                <a:latin typeface="Calibri"/>
              </a:rPr>
              <a:t>analysiert ganze Projekte automatisch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218688"/>
            <a:ext cx="109728" cy="10972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05409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000000"/>
                </a:solidFill>
                <a:latin typeface="Calibri"/>
              </a:rPr>
              <a:t>Schreibt, editiert, führt aus — </a:t>
            </a:r>
            <a:r>
              <a:rPr b="0" sz="1700">
                <a:solidFill>
                  <a:srgbClr val="333333"/>
                </a:solidFill>
                <a:latin typeface="Calibri"/>
              </a:rPr>
              <a:t>Dateien, Shell-Befehle, Tests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77056"/>
            <a:ext cx="109728" cy="10972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1246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000000"/>
                </a:solidFill>
                <a:latin typeface="Calibri"/>
              </a:rPr>
              <a:t>Mehrstufige Tasks — </a:t>
            </a:r>
            <a:r>
              <a:rPr b="0" sz="1700">
                <a:solidFill>
                  <a:srgbClr val="333333"/>
                </a:solidFill>
                <a:latin typeface="Calibri"/>
              </a:rPr>
              <a:t>plant und führt komplexe Aufgaben eigenständig durch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535424"/>
            <a:ext cx="109728" cy="10972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37083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700">
                <a:solidFill>
                  <a:srgbClr val="000000"/>
                </a:solidFill>
                <a:latin typeface="Calibri"/>
              </a:rPr>
              <a:t>Interaktiver Dialog — </a:t>
            </a:r>
            <a:r>
              <a:rPr b="0" sz="1700">
                <a:solidFill>
                  <a:srgbClr val="333333"/>
                </a:solidFill>
                <a:latin typeface="Calibri"/>
              </a:rPr>
              <a:t>holt bei wichtigen Aktionen Bestätigung ein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77840"/>
            <a:ext cx="1124712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6235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Calibri"/>
              </a:rPr>
              <a:t>"Claude Code ist kein Autocomplete - es ist ein autonomer Software-Ingenieur."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524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Calibri"/>
              </a:rPr>
              <a:t>Claude Code · FHNW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6524752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AI-Assisted Software Development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097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FHNW · School of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Klassifikation &amp; Kategorie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alibri"/>
              </a:rPr>
              <a:t>Klassifikation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53035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018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</a:rPr>
              <a:t>Code Completion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701800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C0000"/>
                </a:solidFill>
                <a:latin typeface="Calibri"/>
              </a:rPr>
              <a:t>✗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50008"/>
            <a:ext cx="53035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5160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</a:rPr>
              <a:t>Chat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45160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8822"/>
                </a:solidFill>
                <a:latin typeface="Calibri"/>
              </a:rPr>
              <a:t>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99815"/>
            <a:ext cx="53035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201415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Calibri"/>
              </a:rPr>
              <a:t>Agentic Coding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201415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8822"/>
                </a:solidFill>
                <a:latin typeface="Calibri"/>
              </a:rPr>
              <a:t>✓✓ Hauptfokus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051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alibri"/>
              </a:rPr>
              <a:t>Kategorie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600200"/>
            <a:ext cx="53035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1625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CLI-Tool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19050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Hauptschnittstelle: Terminal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50008"/>
            <a:ext cx="53035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37540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IDE Extension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65480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VS Code (taeglicher Einsatz) + JetBrains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099815"/>
            <a:ext cx="53035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3125215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Cloud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3404615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Laeuft via Anthropic API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297680"/>
            <a:ext cx="11274552" cy="8229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7083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  <a:latin typeface="Calibri"/>
              </a:rPr>
              <a:t>Betriebsplattform:   macOS  ·  Linux  ·  Windows (WSL / native Preview)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524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Calibri"/>
              </a:rPr>
              <a:t>Claude Code · FHNW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6524752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AI-Assisted Software Development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097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FHNW · School of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Model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Modell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0789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Stärke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07899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Empfehlung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11247120" cy="658368"/>
          </a:xfrm>
          <a:prstGeom prst="rect">
            <a:avLst/>
          </a:prstGeom>
          <a:solidFill>
            <a:srgbClr val="FFF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7272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Claude Sonnet 4.6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7272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Schnell · kosteneffizient · sehr stark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172720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000"/>
                </a:solidFill>
                <a:latin typeface="Calibri"/>
              </a:rPr>
              <a:t>★ Empfohlen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50008"/>
            <a:ext cx="112471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7700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Claude Opus 4.6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47700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Maximale Intelligenz für komplexe Tasks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477008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Für schwere Aufgaben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99815"/>
            <a:ext cx="112471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226815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Calibri"/>
              </a:rPr>
              <a:t>Claude Haiku 4.5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226815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Ultra-schnell · günstig · einfache Tasks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226815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Für einfache Tasks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Zusätzlich verfügbar via: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00600"/>
            <a:ext cx="356616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8280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Calibri"/>
              </a:rPr>
              <a:t>Amazon Bedrock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120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Enterprise / AWS-Integration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4800600"/>
            <a:ext cx="356616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48280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Calibri"/>
              </a:rPr>
              <a:t>Google Cloud Vertex 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5120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Enterprise / GCP-Integration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46720" y="4800600"/>
            <a:ext cx="356616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38160" y="482803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Calibri"/>
              </a:rPr>
              <a:t>Kein lokaler Betrieb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120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Proprietaere Modelle, kein Ollama / LM Studio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160" y="6524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Calibri"/>
              </a:rPr>
              <a:t>Claude Code · FHNW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6524752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AI-Assisted Software Development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097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FHNW · School of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Pricing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02336" y="1051560"/>
            <a:ext cx="2743200" cy="32918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3776" y="116128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Calibri"/>
              </a:rPr>
              <a:t>API
Pay-per-use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1783080"/>
            <a:ext cx="2743200" cy="8229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801368"/>
            <a:ext cx="25603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$3–15
/ 1 Mio.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271576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Ideal für
Studierende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33832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ab ~$5 Guthaben, reicht für Wochen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1051560"/>
            <a:ext cx="2743200" cy="3291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116128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Calibri"/>
              </a:rPr>
              <a:t>Claude Pro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1783080"/>
            <a:ext cx="2743200" cy="8229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4136" y="1801368"/>
            <a:ext cx="25603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E600"/>
                </a:solidFill>
                <a:latin typeface="Calibri"/>
              </a:rPr>
              <a:t>$20
/ Monat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4136" y="271576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Gut für
regelmäss. Nutzung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74136" y="33832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Claude Code inkl. · 5× mehr Kapazität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63056" y="1051560"/>
            <a:ext cx="2743200" cy="3291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116128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Calibri"/>
              </a:rPr>
              <a:t>Claude Max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3056" y="1783080"/>
            <a:ext cx="2743200" cy="8229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496" y="1801368"/>
            <a:ext cx="25603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E600"/>
                </a:solidFill>
                <a:latin typeface="Calibri"/>
              </a:rPr>
              <a:t>$100
/ Monat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271576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Intensive
Nutzung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33832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Für professionellen Einsatz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43416" y="1051560"/>
            <a:ext cx="2743200" cy="3291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34856" y="116128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0000"/>
                </a:solidFill>
                <a:latin typeface="Calibri"/>
              </a:rPr>
              <a:t>Enterprise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43416" y="1783080"/>
            <a:ext cx="2743200" cy="8229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4856" y="1801368"/>
            <a:ext cx="25603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E600"/>
                </a:solidFill>
                <a:latin typeface="Calibri"/>
              </a:rPr>
              <a:t>individuell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4856" y="271576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33333"/>
                </a:solidFill>
                <a:latin typeface="Calibri"/>
              </a:rPr>
              <a:t>Teams &amp;
Firmen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33832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SSO, Audit Logs, Custom Policies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5720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Calibri"/>
              </a:rPr>
              <a:t>Kein dediziertes Student-Pricing. API Pay-per-use ist fuer Studierende am guenstigsten.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" y="6524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Calibri"/>
              </a:rPr>
              <a:t>Claude Code · FHNW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524752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AI-Assisted Software Development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097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FHNW · School of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Open Source?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4712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9032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CC0000"/>
                </a:solidFill>
                <a:latin typeface="Calibri"/>
              </a:rPr>
              <a:t>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239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Claude-Modelle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697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Proprietaer, Closed Source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112471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0472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CC7700"/>
                </a:solidFill>
                <a:latin typeface="Calibri"/>
              </a:rPr>
              <a:t>~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1539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CLI-Client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41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Frei via npm installierbar, nicht open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17520"/>
            <a:ext cx="1124712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11912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08822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683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Anthropic SDKs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3985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Open Source auf GitHub (Python, TypeScript ...)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112471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33520"/>
            <a:ext cx="548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008822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982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MCP-Protokoll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31292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Model Context Protocol, offener Standard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20640"/>
            <a:ext cx="11247120" cy="640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175504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E600"/>
                </a:solidFill>
                <a:latin typeface="Calibri"/>
              </a:rPr>
              <a:t>Fazit: Claude Code ist kein Open-Source-Projekt, aber CLI-Client und SDKs sind frei zugaenglich.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524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Calibri"/>
              </a:rPr>
              <a:t>Claude Code · FHNW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6524752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AI-Assisted Software Development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E600"/>
                </a:solidFill>
                <a:latin typeface="Calibri"/>
              </a:rP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10881360" cy="448056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051560"/>
            <a:ext cx="10881360" cy="347472"/>
          </a:xfrm>
          <a:prstGeom prst="rect">
            <a:avLst/>
          </a:prstGeom>
          <a:solidFill>
            <a:srgbClr val="3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Terminal  —  zsh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4813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66"/>
                </a:solidFill>
                <a:latin typeface="Courier New"/>
              </a:rPr>
              <a:t>$ cd ~/Desktop/claude-code-demo &amp;&amp; claude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7607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urier New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401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8FFFF"/>
                </a:solidFill>
                <a:latin typeface="Courier New"/>
              </a:rPr>
              <a:t>&gt; Lies content.json und erstelle ein Memory-Spiel als memory.html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195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urier New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989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8DD88"/>
                </a:solidFill>
                <a:latin typeface="Courier New"/>
              </a:rPr>
              <a:t>  Reading: content.json (8 Begriffspaare)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783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8DD88"/>
                </a:solidFill>
                <a:latin typeface="Courier New"/>
              </a:rPr>
              <a:t>  Planning: 4x4 Grid, Flip-Animation, Scoring 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577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8DD88"/>
                </a:solidFill>
                <a:latin typeface="Courier New"/>
              </a:rPr>
              <a:t>  Writing: memory.html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371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FF7F"/>
                </a:solidFill>
                <a:latin typeface="Courier New"/>
              </a:rPr>
              <a:t>  Done!  open memory.html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165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ourier New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995928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CC55"/>
                </a:solidFill>
                <a:latin typeface="Courier New"/>
              </a:rPr>
              <a:t>  Soll ich auch eine Quiz-Variante erstellen? [y/n]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760720"/>
            <a:ext cx="265176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82472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Calibri"/>
              </a:rPr>
              <a:t>1. claude starten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5760720"/>
            <a:ext cx="265176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582472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Calibri"/>
              </a:rPr>
              <a:t>2. Aufgabe eingeben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5760720"/>
            <a:ext cx="265176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582472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Calibri"/>
              </a:rPr>
              <a:t>3. Agent arbeitet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06840" y="5760720"/>
            <a:ext cx="2651760" cy="59436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582472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Calibri"/>
              </a:rPr>
              <a:t>4. Dialog &amp; Kontrolle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0972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  <a:latin typeface="Calibri"/>
              </a:rPr>
              <a:t>FHNW · School of Business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0000"/>
                </a:solidFill>
                <a:latin typeface="Calibri"/>
              </a:rPr>
              <a:t>Fazit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471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09728" cy="65836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242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Agentic 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22428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Plant und fuehrt mehrstufige Software-Tasks eigenstaendig aus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47088"/>
            <a:ext cx="112471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47088"/>
            <a:ext cx="109728" cy="65836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974088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Modelle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74088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Claude Sonnet 4.6 empfohlen: schnell, stark, kosteneffizient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96896"/>
            <a:ext cx="112471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96896"/>
            <a:ext cx="109728" cy="65836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23896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Plattform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723896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macOS, Linux, Windows. CLI und VS Code Extension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46704"/>
            <a:ext cx="112471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46704"/>
            <a:ext cx="109728" cy="65836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3704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Pricing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473704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API Pay-per-use ideal fuer Studierende (ab ca. $5)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96511"/>
            <a:ext cx="11247120" cy="65836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96511"/>
            <a:ext cx="109728" cy="65836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223511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Open Source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4223511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Nicht vollstaendig: CLI frei zugaenglich, Modelle proprietaer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46320"/>
            <a:ext cx="1124712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846320"/>
            <a:ext cx="109728" cy="65836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733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Calibri"/>
              </a:rPr>
              <a:t>Capstone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97332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Wir nutzen Claude Code um unsere Lernplattform zu bauen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29200"/>
            <a:ext cx="11247120" cy="9144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120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  <a:latin typeface="Calibri"/>
              </a:rPr>
              <a:t>Fragen?   Ich kann Claude Code direkt hier im Terminal demonstrieren.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160" y="652475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Calibri"/>
              </a:rPr>
              <a:t>Claude Code · FHNW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6524752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AI-Assisted Software Development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